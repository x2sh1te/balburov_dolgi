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104" y="-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B7944-C771-4EEC-BDCB-1D49EDDAE4B3}" type="datetimeFigureOut">
              <a:rPr lang="ru-RU" smtClean="0"/>
              <a:pPr/>
              <a:t>19.11.2021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D17EB-0181-459F-9706-3C5AC7A51D2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733246"/>
            <a:ext cx="903649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b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Цель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объектно-ориентированного программирования состоит в </a:t>
            </a:r>
            <a:r>
              <a:rPr lang="ru-RU" sz="2800" b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повторном использовании 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созданных </a:t>
            </a:r>
            <a:r>
              <a:rPr lang="ru-RU" sz="28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вами классов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 что экономит </a:t>
            </a:r>
            <a:r>
              <a:rPr lang="ru-RU" sz="28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время 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8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силы.</a:t>
            </a:r>
          </a:p>
          <a:p>
            <a:pPr algn="just"/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вы уже создали некоторый класс, то возможны ситуации, </a:t>
            </a:r>
            <a:r>
              <a:rPr lang="ru-RU" sz="28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когда 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новому классу нужны многие или даже все особенности уже существующего класса, и необходимо добавить один или несколько элементов данных или </a:t>
            </a:r>
            <a:r>
              <a:rPr lang="ru-RU" sz="28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функций.</a:t>
            </a:r>
          </a:p>
          <a:p>
            <a:pPr algn="just"/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таких случаях C++ позволяет вам строить новый объект, используя характеристики уже существующего объекта. </a:t>
            </a:r>
            <a:r>
              <a:rPr lang="ru-RU" sz="28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Т.е. 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новый объект будет наследовать элементы существующего класса (называемого </a:t>
            </a:r>
            <a:r>
              <a:rPr lang="ru-RU" sz="2800" b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базовым классом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). Когда вы строите новый класс из существующего, этот новый класс часто называется </a:t>
            </a:r>
            <a:r>
              <a:rPr lang="ru-RU" sz="2800" b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производным классом</a:t>
            </a:r>
            <a:r>
              <a:rPr lang="ru-RU" sz="28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Наследование классов в </a:t>
            </a:r>
            <a:r>
              <a:rPr lang="en-US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1640" y="1052736"/>
            <a:ext cx="6192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Наследование классов в </a:t>
            </a:r>
            <a:r>
              <a:rPr lang="en-US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C++</a:t>
            </a:r>
          </a:p>
        </p:txBody>
      </p:sp>
      <p:sp>
        <p:nvSpPr>
          <p:cNvPr id="11265" name="Rectangle 1"/>
          <p:cNvSpPr>
            <a:spLocks noChangeArrowheads="1"/>
          </p:cNvSpPr>
          <p:nvPr/>
        </p:nvSpPr>
        <p:spPr bwMode="auto">
          <a:xfrm rot="10800000" flipV="1">
            <a:off x="539552" y="2495798"/>
            <a:ext cx="8301438" cy="3073900"/>
          </a:xfrm>
          <a:prstGeom prst="rect">
            <a:avLst/>
          </a:prstGeom>
          <a:solidFill>
            <a:srgbClr val="F9F2F4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Наследование</a:t>
            </a: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 — это определение производного класса, который может обращаться ко всем элементам и методам базового класса за исключением тех, которые находятся в поле </a:t>
            </a:r>
            <a:r>
              <a:rPr kumimoji="0" lang="ru-RU" sz="3200" b="0" i="0" u="none" strike="noStrike" cap="none" normalizeH="0" baseline="0" dirty="0" err="1" smtClean="0">
                <a:ln>
                  <a:noFill/>
                </a:ln>
                <a:solidFill>
                  <a:srgbClr val="C7254E"/>
                </a:solidFill>
                <a:effectLst/>
                <a:latin typeface="Times New Roman" pitchFamily="18" charset="0"/>
                <a:cs typeface="Times New Roman" pitchFamily="18" charset="0"/>
              </a:rPr>
              <a:t>private</a:t>
            </a: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251520" y="692696"/>
            <a:ext cx="8424936" cy="3822585"/>
          </a:xfrm>
          <a:prstGeom prst="rect">
            <a:avLst/>
          </a:prstGeom>
          <a:solidFill>
            <a:srgbClr val="F9F9F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Times New Roman" pitchFamily="18" charset="0"/>
                <a:cs typeface="Times New Roman" pitchFamily="18" charset="0"/>
              </a:rPr>
              <a:t>class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{ 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//базовый класс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Times New Roman" pitchFamily="18" charset="0"/>
                <a:cs typeface="Times New Roman" pitchFamily="18" charset="0"/>
              </a:rPr>
              <a:t>class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: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Times New Roman" pitchFamily="18" charset="0"/>
                <a:cs typeface="Times New Roman" pitchFamily="18" charset="0"/>
              </a:rPr>
              <a:t>public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{ 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//</a:t>
            </a:r>
            <a:r>
              <a:rPr kumimoji="0" lang="ru-RU" sz="2400" b="0" i="1" u="none" strike="noStrike" cap="none" normalizeH="0" baseline="0" dirty="0" err="1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public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 наследование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Times New Roman" pitchFamily="18" charset="0"/>
                <a:cs typeface="Times New Roman" pitchFamily="18" charset="0"/>
              </a:rPr>
              <a:t>class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cs typeface="Times New Roman" pitchFamily="18" charset="0"/>
              </a:rPr>
              <a:t>C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: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{ 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//</a:t>
            </a:r>
            <a:r>
              <a:rPr kumimoji="0" lang="ru-RU" sz="2400" b="0" i="1" u="none" strike="noStrike" cap="none" normalizeH="0" baseline="0" dirty="0" err="1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 наследование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Times New Roman" pitchFamily="18" charset="0"/>
                <a:cs typeface="Times New Roman" pitchFamily="18" charset="0"/>
              </a:rPr>
              <a:t>class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cs typeface="Times New Roman" pitchFamily="18" charset="0"/>
              </a:rPr>
              <a:t>Z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: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Times New Roman" pitchFamily="18" charset="0"/>
                <a:cs typeface="Times New Roman" pitchFamily="18" charset="0"/>
              </a:rPr>
              <a:t>private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{ 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//</a:t>
            </a:r>
            <a:r>
              <a:rPr kumimoji="0" lang="ru-RU" sz="2400" b="0" i="1" u="none" strike="noStrike" cap="none" normalizeH="0" baseline="0" dirty="0" err="1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private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408080"/>
                </a:solidFill>
                <a:effectLst/>
                <a:latin typeface="Times New Roman" pitchFamily="18" charset="0"/>
                <a:cs typeface="Times New Roman" pitchFamily="18" charset="0"/>
              </a:rPr>
              <a:t> наследование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};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260648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Наследование в С++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7504" y="4581128"/>
            <a:ext cx="88569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Синтаксис определения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производного класса:</a:t>
            </a:r>
          </a:p>
          <a:p>
            <a:r>
              <a:rPr lang="ru-RU" b="1" dirty="0" err="1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b="1" dirty="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Имя_Производного_Класса</a:t>
            </a:r>
            <a:r>
              <a:rPr lang="ru-RU" b="1" dirty="0" smtClean="0"/>
              <a:t> : </a:t>
            </a:r>
            <a:r>
              <a:rPr lang="ru-RU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спецификатор доступа </a:t>
            </a:r>
            <a:r>
              <a:rPr lang="ru-RU" b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Имя_Базового_Класса</a:t>
            </a:r>
            <a:endParaRPr lang="ru-RU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/>
              <a:t>{</a:t>
            </a:r>
          </a:p>
          <a:p>
            <a:r>
              <a:rPr lang="ru-RU" b="1" dirty="0" smtClean="0"/>
              <a:t> </a:t>
            </a:r>
            <a:r>
              <a:rPr lang="ru-RU" b="1" dirty="0"/>
              <a:t>/*код*/ </a:t>
            </a:r>
            <a:endParaRPr lang="ru-RU" b="1" dirty="0" smtClean="0"/>
          </a:p>
          <a:p>
            <a:endParaRPr lang="ru-RU" b="1" dirty="0"/>
          </a:p>
          <a:p>
            <a:r>
              <a:rPr lang="ru-RU" b="1" dirty="0" smtClean="0"/>
              <a:t>} </a:t>
            </a:r>
            <a:r>
              <a:rPr lang="ru-RU" b="1" dirty="0"/>
              <a:t>; 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11560" y="548680"/>
          <a:ext cx="7920882" cy="2194560"/>
        </p:xfrm>
        <a:graphic>
          <a:graphicData uri="http://schemas.openxmlformats.org/drawingml/2006/table">
            <a:tbl>
              <a:tblPr/>
              <a:tblGrid>
                <a:gridCol w="3861428"/>
                <a:gridCol w="1402657"/>
                <a:gridCol w="1402657"/>
                <a:gridCol w="125414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/>
                      </a:r>
                      <a:b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</a:b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private</a:t>
                      </a: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protected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public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latin typeface="Times New Roman" pitchFamily="18" charset="0"/>
                          <a:cs typeface="Times New Roman" pitchFamily="18" charset="0"/>
                        </a:rPr>
                        <a:t>Доступ из производных классов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itchFamily="18" charset="0"/>
                          <a:cs typeface="Times New Roman" pitchFamily="18" charset="0"/>
                        </a:rPr>
                        <a:t> закрыт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itchFamily="18" charset="0"/>
                          <a:cs typeface="Times New Roman" pitchFamily="18" charset="0"/>
                        </a:rPr>
                        <a:t>  открыт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itchFamily="18" charset="0"/>
                          <a:cs typeface="Times New Roman" pitchFamily="18" charset="0"/>
                        </a:rPr>
                        <a:t>  открыт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latin typeface="Times New Roman" pitchFamily="18" charset="0"/>
                          <a:cs typeface="Times New Roman" pitchFamily="18" charset="0"/>
                        </a:rPr>
                        <a:t>Доступ из внешних функций и классов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itchFamily="18" charset="0"/>
                          <a:cs typeface="Times New Roman" pitchFamily="18" charset="0"/>
                        </a:rPr>
                        <a:t> закрыт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itchFamily="18" charset="0"/>
                          <a:cs typeface="Times New Roman" pitchFamily="18" charset="0"/>
                        </a:rPr>
                        <a:t> закрыт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itchFamily="18" charset="0"/>
                          <a:cs typeface="Times New Roman" pitchFamily="18" charset="0"/>
                        </a:rPr>
                        <a:t>  открыт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267744" y="0"/>
            <a:ext cx="49687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Отличия спецификаторов доступа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2703016"/>
            <a:ext cx="84249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Спецификаторы доступа членов базового класса меняются в потомках следующим образом:</a:t>
            </a:r>
          </a:p>
          <a:p>
            <a:pPr indent="3600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Если класс объявлен как базовый для другого класса со спецификатором доступа </a:t>
            </a:r>
            <a:r>
              <a:rPr lang="ru-RU" sz="28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тогда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члены базового класса доступны как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члены производного класса,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члены базового класса доступны как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члены производного класса.</a:t>
            </a:r>
          </a:p>
          <a:p>
            <a:pPr indent="3600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Если класс объявлен как </a:t>
            </a:r>
            <a:r>
              <a:rPr lang="ru-RU" sz="2000" u="sng" dirty="0">
                <a:latin typeface="Times New Roman" pitchFamily="18" charset="0"/>
                <a:cs typeface="Times New Roman" pitchFamily="18" charset="0"/>
              </a:rPr>
              <a:t>базовый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для другого класса со спецификатором доступа </a:t>
            </a:r>
            <a:r>
              <a:rPr lang="ru-RU" sz="2800" b="1" dirty="0" err="1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тогда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u="sng" dirty="0">
                <a:latin typeface="Times New Roman" pitchFamily="18" charset="0"/>
                <a:cs typeface="Times New Roman" pitchFamily="18" charset="0"/>
              </a:rPr>
              <a:t>члены базового класса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доступны как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члены </a:t>
            </a:r>
            <a:r>
              <a:rPr lang="ru-RU" sz="2000" u="sng" dirty="0">
                <a:latin typeface="Times New Roman" pitchFamily="18" charset="0"/>
                <a:cs typeface="Times New Roman" pitchFamily="18" charset="0"/>
              </a:rPr>
              <a:t>производного класса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3600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Если класс объявлен как </a:t>
            </a:r>
            <a:r>
              <a:rPr lang="ru-RU" sz="2000" u="sng" dirty="0">
                <a:latin typeface="Times New Roman" pitchFamily="18" charset="0"/>
                <a:cs typeface="Times New Roman" pitchFamily="18" charset="0"/>
              </a:rPr>
              <a:t>базовый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для другого класса со спецификатором доступа </a:t>
            </a:r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тогда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члены базового класса доступны как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члены производного класса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 cstate="print"/>
          <a:srcRect l="3532" t="19073" r="30956" b="7762"/>
          <a:stretch>
            <a:fillRect/>
          </a:stretch>
        </p:blipFill>
        <p:spPr bwMode="auto">
          <a:xfrm>
            <a:off x="323528" y="1596"/>
            <a:ext cx="8388000" cy="6856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Прямоугольник 6"/>
          <p:cNvSpPr/>
          <p:nvPr/>
        </p:nvSpPr>
        <p:spPr>
          <a:xfrm>
            <a:off x="467544" y="836712"/>
            <a:ext cx="5904656" cy="2880320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467544" y="3717032"/>
            <a:ext cx="6912768" cy="3140968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 l="3532" t="13922" r="38968" b="35206"/>
          <a:stretch>
            <a:fillRect/>
          </a:stretch>
        </p:blipFill>
        <p:spPr bwMode="auto">
          <a:xfrm>
            <a:off x="107504" y="116632"/>
            <a:ext cx="8784976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 l="3532" t="67295" r="38968" b="27479"/>
          <a:stretch>
            <a:fillRect/>
          </a:stretch>
        </p:blipFill>
        <p:spPr bwMode="auto">
          <a:xfrm>
            <a:off x="107504" y="5877272"/>
            <a:ext cx="8784976" cy="584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 rot="10800000" flipV="1">
            <a:off x="251520" y="950531"/>
            <a:ext cx="864096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600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Задача.</a:t>
            </a:r>
          </a:p>
          <a:p>
            <a:pPr marL="0" marR="0" lvl="0" indent="3600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Пусть в базе данных ВУЗа должна храниться информация о всех студентах и преподавателях. Представлять все данные в одном классе не получится, поскольку для преподавателей понадобится хранить данные, которые для студента не применимы, и наоборот.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Создание базового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класса.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базовый класс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human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который будет описывать модель человека. В нем будут храниться имя, фамилия и отчество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human.h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 l="3340" t="10719" r="57070" b="35189"/>
          <a:stretch>
            <a:fillRect/>
          </a:stretch>
        </p:blipFill>
        <p:spPr bwMode="auto">
          <a:xfrm>
            <a:off x="971600" y="620688"/>
            <a:ext cx="6048672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 l="2589" t="10702" r="41325" b="25547"/>
          <a:stretch>
            <a:fillRect/>
          </a:stretch>
        </p:blipFill>
        <p:spPr bwMode="auto">
          <a:xfrm>
            <a:off x="539552" y="269100"/>
            <a:ext cx="7920000" cy="658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35522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Наследование от базового класса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 l="2589" t="10702" r="46038" b="25547"/>
          <a:stretch>
            <a:fillRect/>
          </a:stretch>
        </p:blipFill>
        <p:spPr bwMode="auto">
          <a:xfrm>
            <a:off x="539552" y="4"/>
            <a:ext cx="7560000" cy="686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223</Words>
  <Application>Microsoft Office PowerPoint</Application>
  <PresentationFormat>Экран (4:3)</PresentationFormat>
  <Paragraphs>43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>ISTP SO RAN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Alekc</dc:creator>
  <cp:lastModifiedBy>VPL</cp:lastModifiedBy>
  <cp:revision>35</cp:revision>
  <dcterms:created xsi:type="dcterms:W3CDTF">2015-12-04T04:12:26Z</dcterms:created>
  <dcterms:modified xsi:type="dcterms:W3CDTF">2021-11-19T00:05:56Z</dcterms:modified>
</cp:coreProperties>
</file>